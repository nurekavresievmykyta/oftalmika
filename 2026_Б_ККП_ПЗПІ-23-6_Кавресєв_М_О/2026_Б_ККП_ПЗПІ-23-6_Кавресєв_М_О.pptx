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7" r:id="rId14"/>
  </p:sldIdLst>
  <p:sldSz cx="9144000" cy="5143500" type="screen16x9"/>
  <p:notesSz cx="6858000" cy="9144000"/>
  <p:embeddedFontLst>
    <p:embeddedFont>
      <p:font typeface="Economica" panose="020B0604020202020204" charset="0"/>
      <p:regular r:id="rId16"/>
      <p:bold r:id="rId17"/>
      <p:italic r:id="rId18"/>
      <p:boldItalic r:id="rId19"/>
    </p:embeddedFont>
    <p:embeddedFont>
      <p:font typeface="Georgia" panose="02040502050405020303" pitchFamily="18" charset="0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16b2ada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16b2adad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hyperlink" Target="https://github.com/NureKavresievMykyta/oftalmika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50" y="821299"/>
            <a:ext cx="3858586" cy="219899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800" b="0" dirty="0" err="1">
                <a:solidFill>
                  <a:srgbClr val="111827"/>
                </a:solidFill>
                <a:latin typeface="Economica" panose="020B0604020202020204" charset="0"/>
              </a:rPr>
              <a:t>Програмна</a:t>
            </a:r>
            <a:r>
              <a:rPr sz="2800" b="0" dirty="0">
                <a:solidFill>
                  <a:srgbClr val="111827"/>
                </a:solidFill>
                <a:latin typeface="Economica" panose="020B0604020202020204" charset="0"/>
              </a:rPr>
              <a:t> </a:t>
            </a:r>
            <a:r>
              <a:rPr sz="2800" b="0" dirty="0" err="1">
                <a:solidFill>
                  <a:srgbClr val="111827"/>
                </a:solidFill>
                <a:latin typeface="Economica" panose="020B0604020202020204" charset="0"/>
              </a:rPr>
              <a:t>система</a:t>
            </a:r>
            <a:r>
              <a:rPr sz="2800" b="0" dirty="0">
                <a:solidFill>
                  <a:srgbClr val="111827"/>
                </a:solidFill>
                <a:latin typeface="Economica" panose="020B0604020202020204" charset="0"/>
              </a:rPr>
              <a:t> </a:t>
            </a:r>
            <a:r>
              <a:rPr sz="2800" b="0" dirty="0" err="1">
                <a:solidFill>
                  <a:srgbClr val="111827"/>
                </a:solidFill>
                <a:latin typeface="Economica" panose="020B0604020202020204" charset="0"/>
              </a:rPr>
              <a:t>підтримки</a:t>
            </a:r>
            <a:r>
              <a:rPr sz="2800" b="0" dirty="0">
                <a:solidFill>
                  <a:srgbClr val="111827"/>
                </a:solidFill>
                <a:latin typeface="Economica" panose="020B0604020202020204" charset="0"/>
              </a:rPr>
              <a:t> </a:t>
            </a:r>
            <a:r>
              <a:rPr sz="2800" b="0" dirty="0" err="1">
                <a:solidFill>
                  <a:srgbClr val="111827"/>
                </a:solidFill>
                <a:latin typeface="Economica" panose="020B0604020202020204" charset="0"/>
              </a:rPr>
              <a:t>обстеження</a:t>
            </a:r>
            <a:r>
              <a:rPr sz="2800" b="0" dirty="0">
                <a:solidFill>
                  <a:srgbClr val="111827"/>
                </a:solidFill>
                <a:latin typeface="Economica" panose="020B0604020202020204" charset="0"/>
              </a:rPr>
              <a:t> </a:t>
            </a:r>
            <a:r>
              <a:rPr sz="2800" b="0" dirty="0" err="1">
                <a:solidFill>
                  <a:srgbClr val="111827"/>
                </a:solidFill>
                <a:latin typeface="Economica" panose="020B0604020202020204" charset="0"/>
              </a:rPr>
              <a:t>пацієнтів</a:t>
            </a:r>
            <a:r>
              <a:rPr sz="2800" b="0" dirty="0">
                <a:solidFill>
                  <a:srgbClr val="111827"/>
                </a:solidFill>
                <a:latin typeface="Economica" panose="020B0604020202020204" charset="0"/>
              </a:rPr>
              <a:t>
</a:t>
            </a:r>
            <a:r>
              <a:rPr sz="2800" b="0" dirty="0" err="1">
                <a:solidFill>
                  <a:srgbClr val="111827"/>
                </a:solidFill>
                <a:latin typeface="Economica" panose="020B0604020202020204" charset="0"/>
              </a:rPr>
              <a:t>офтальмологічного</a:t>
            </a:r>
            <a:r>
              <a:rPr sz="2800" b="0" dirty="0">
                <a:solidFill>
                  <a:srgbClr val="111827"/>
                </a:solidFill>
                <a:latin typeface="Economica" panose="020B0604020202020204" charset="0"/>
              </a:rPr>
              <a:t> </a:t>
            </a:r>
            <a:r>
              <a:rPr sz="2800" b="0" dirty="0" err="1">
                <a:solidFill>
                  <a:srgbClr val="111827"/>
                </a:solidFill>
                <a:latin typeface="Economica" panose="020B0604020202020204" charset="0"/>
              </a:rPr>
              <a:t>центру</a:t>
            </a:r>
            <a:r>
              <a:rPr sz="2800" b="0" dirty="0">
                <a:solidFill>
                  <a:srgbClr val="111827"/>
                </a:solidFill>
                <a:latin typeface="Economica" panose="020B0604020202020204" charset="0"/>
              </a:rPr>
              <a:t> «</a:t>
            </a:r>
            <a:r>
              <a:rPr sz="2800" b="0" dirty="0" err="1">
                <a:solidFill>
                  <a:srgbClr val="111827"/>
                </a:solidFill>
                <a:latin typeface="Economica" panose="020B0604020202020204" charset="0"/>
              </a:rPr>
              <a:t>Офтальміка</a:t>
            </a:r>
            <a:r>
              <a:rPr sz="2800" b="0" dirty="0">
                <a:solidFill>
                  <a:srgbClr val="111827"/>
                </a:solidFill>
                <a:latin typeface="Economica" panose="020B0604020202020204" charset="0"/>
              </a:rPr>
              <a:t>»</a:t>
            </a:r>
            <a:endParaRPr sz="2400" dirty="0">
              <a:latin typeface="Economica" panose="020B0604020202020204" charset="0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759527" y="3635125"/>
            <a:ext cx="4620491" cy="1508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 b="0" dirty="0" err="1">
                <a:solidFill>
                  <a:srgbClr val="111827"/>
                </a:solidFill>
                <a:latin typeface="Economica" panose="020B0604020202020204" charset="0"/>
              </a:rPr>
              <a:t>Кавресєв</a:t>
            </a:r>
            <a:r>
              <a:rPr lang="uk-UA" sz="1800" b="0" dirty="0">
                <a:solidFill>
                  <a:srgbClr val="111827"/>
                </a:solidFill>
                <a:latin typeface="Economica" panose="020B0604020202020204" charset="0"/>
              </a:rPr>
              <a:t> Микита Олександрович ПЗПІ-23-6</a:t>
            </a:r>
            <a:r>
              <a:rPr sz="1800" b="0" dirty="0">
                <a:solidFill>
                  <a:srgbClr val="111827"/>
                </a:solidFill>
                <a:latin typeface="Economica" panose="020B0604020202020204" charset="0"/>
              </a:rPr>
              <a:t>
</a:t>
            </a:r>
            <a:r>
              <a:rPr sz="1800" b="0" dirty="0" err="1">
                <a:solidFill>
                  <a:srgbClr val="111827"/>
                </a:solidFill>
                <a:latin typeface="Economica" panose="020B0604020202020204" charset="0"/>
              </a:rPr>
              <a:t>Керівник</a:t>
            </a:r>
            <a:r>
              <a:rPr sz="1800" b="0" dirty="0">
                <a:solidFill>
                  <a:srgbClr val="111827"/>
                </a:solidFill>
                <a:latin typeface="Economica" panose="020B0604020202020204" charset="0"/>
              </a:rPr>
              <a:t>: </a:t>
            </a:r>
            <a:r>
              <a:rPr lang="uk-UA" sz="1800" b="0" dirty="0">
                <a:solidFill>
                  <a:srgbClr val="111827"/>
                </a:solidFill>
                <a:latin typeface="Economica" panose="020B0604020202020204" charset="0"/>
              </a:rPr>
              <a:t>ст. </a:t>
            </a:r>
            <a:r>
              <a:rPr lang="uk-UA" sz="1800" b="0" dirty="0" err="1">
                <a:solidFill>
                  <a:srgbClr val="111827"/>
                </a:solidFill>
                <a:latin typeface="Economica" panose="020B0604020202020204" charset="0"/>
              </a:rPr>
              <a:t>Виклада</a:t>
            </a:r>
            <a:r>
              <a:rPr lang="uk-UA" sz="1800" b="0" dirty="0">
                <a:solidFill>
                  <a:srgbClr val="111827"/>
                </a:solidFill>
                <a:latin typeface="Economica" panose="020B0604020202020204" charset="0"/>
              </a:rPr>
              <a:t> кафедри ШІ В’ячеслав Гребенюк</a:t>
            </a:r>
            <a:r>
              <a:rPr sz="1800" b="0" dirty="0">
                <a:solidFill>
                  <a:srgbClr val="111827"/>
                </a:solidFill>
                <a:latin typeface="Economica" panose="020B0604020202020204" charset="0"/>
              </a:rPr>
              <a:t>
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3100" b="0" dirty="0" err="1">
                <a:solidFill>
                  <a:srgbClr val="000000"/>
                </a:solidFill>
                <a:latin typeface="Economica" panose="020B0604020202020204" charset="0"/>
              </a:rPr>
              <a:t>Мета</a:t>
            </a:r>
            <a:r>
              <a:rPr sz="3100" b="0" dirty="0">
                <a:solidFill>
                  <a:srgbClr val="000000"/>
                </a:solidFill>
                <a:latin typeface="Economica" panose="020B0604020202020204" charset="0"/>
              </a:rPr>
              <a:t> </a:t>
            </a:r>
            <a:r>
              <a:rPr sz="3100" b="0" dirty="0" err="1">
                <a:solidFill>
                  <a:srgbClr val="000000"/>
                </a:solidFill>
                <a:latin typeface="Economica" panose="020B0604020202020204" charset="0"/>
              </a:rPr>
              <a:t>роботи</a:t>
            </a:r>
            <a:endParaRPr sz="3200" dirty="0">
              <a:latin typeface="Economica" panose="020B0604020202020204" charset="0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935183"/>
            <a:ext cx="8520600" cy="17872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-RU" dirty="0">
                <a:latin typeface="Economica" panose="020B0604020202020204" charset="0"/>
              </a:rPr>
              <a:t>Мета </a:t>
            </a:r>
            <a:r>
              <a:rPr lang="ru-RU" dirty="0" err="1">
                <a:latin typeface="Economica" panose="020B0604020202020204" charset="0"/>
              </a:rPr>
              <a:t>роботи</a:t>
            </a:r>
            <a:r>
              <a:rPr lang="ru-RU" dirty="0">
                <a:latin typeface="Economica" panose="020B0604020202020204" charset="0"/>
              </a:rPr>
              <a:t> - </a:t>
            </a:r>
            <a:r>
              <a:rPr lang="ru-RU" dirty="0" err="1">
                <a:latin typeface="Economica" panose="020B0604020202020204" charset="0"/>
              </a:rPr>
              <a:t>розробити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програмну</a:t>
            </a:r>
            <a:r>
              <a:rPr lang="ru-RU" dirty="0">
                <a:latin typeface="Economica" panose="020B0604020202020204" charset="0"/>
              </a:rPr>
              <a:t> систему, яка </a:t>
            </a:r>
            <a:r>
              <a:rPr lang="ru-RU" dirty="0" err="1">
                <a:latin typeface="Economica" panose="020B0604020202020204" charset="0"/>
              </a:rPr>
              <a:t>автоматизує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процес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обстеження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пацієнтів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офтальмологічного</a:t>
            </a:r>
            <a:r>
              <a:rPr lang="ru-RU" dirty="0">
                <a:latin typeface="Economica" panose="020B0604020202020204" charset="0"/>
              </a:rPr>
              <a:t> центру.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-RU" dirty="0">
                <a:latin typeface="Economica" panose="020B0604020202020204" charset="0"/>
              </a:rPr>
              <a:t>Система </a:t>
            </a:r>
            <a:r>
              <a:rPr lang="ru-RU" dirty="0" err="1">
                <a:latin typeface="Economica" panose="020B0604020202020204" charset="0"/>
              </a:rPr>
              <a:t>має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об’єднати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запис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пацієнта</a:t>
            </a:r>
            <a:r>
              <a:rPr lang="ru-RU" dirty="0">
                <a:latin typeface="Economica" panose="020B0604020202020204" charset="0"/>
              </a:rPr>
              <a:t>, роботу </a:t>
            </a:r>
            <a:r>
              <a:rPr lang="ru-RU" dirty="0" err="1">
                <a:latin typeface="Economica" panose="020B0604020202020204" charset="0"/>
              </a:rPr>
              <a:t>лікаря</a:t>
            </a:r>
            <a:r>
              <a:rPr lang="ru-RU" dirty="0">
                <a:latin typeface="Economica" panose="020B0604020202020204" charset="0"/>
              </a:rPr>
              <a:t>, </a:t>
            </a:r>
            <a:r>
              <a:rPr lang="ru-RU" dirty="0" err="1">
                <a:latin typeface="Economica" panose="020B0604020202020204" charset="0"/>
              </a:rPr>
              <a:t>IoT-обстеження</a:t>
            </a:r>
            <a:r>
              <a:rPr lang="ru-RU" dirty="0">
                <a:latin typeface="Economica" panose="020B0604020202020204" charset="0"/>
              </a:rPr>
              <a:t>, </a:t>
            </a:r>
            <a:r>
              <a:rPr lang="ru-RU" dirty="0" err="1">
                <a:latin typeface="Economica" panose="020B0604020202020204" charset="0"/>
              </a:rPr>
              <a:t>медичну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картку</a:t>
            </a:r>
            <a:r>
              <a:rPr lang="ru-RU" dirty="0">
                <a:latin typeface="Economica" panose="020B0604020202020204" charset="0"/>
              </a:rPr>
              <a:t> та рецепт в одному </a:t>
            </a:r>
            <a:r>
              <a:rPr lang="ru-RU" dirty="0" err="1">
                <a:latin typeface="Economica" panose="020B0604020202020204" charset="0"/>
              </a:rPr>
              <a:t>програмному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комплексі</a:t>
            </a:r>
            <a:r>
              <a:rPr lang="ru-RU" dirty="0">
                <a:latin typeface="Economica" panose="020B0604020202020204" charset="0"/>
              </a:rPr>
              <a:t>.</a:t>
            </a:r>
            <a:endParaRPr lang="ru-UA"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  <p:sp>
        <p:nvSpPr>
          <p:cNvPr id="75" name="Rounded Rectangle 74"/>
          <p:cNvSpPr/>
          <p:nvPr/>
        </p:nvSpPr>
        <p:spPr>
          <a:xfrm>
            <a:off x="1042416" y="2928268"/>
            <a:ext cx="1417320" cy="566928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 err="1">
                <a:solidFill>
                  <a:srgbClr val="1E5AA8"/>
                </a:solidFill>
                <a:latin typeface="Arial"/>
              </a:rPr>
              <a:t>Пацієнт</a:t>
            </a:r>
            <a:endParaRPr sz="1500" b="1" dirty="0">
              <a:solidFill>
                <a:srgbClr val="1E5AA8"/>
              </a:solidFill>
              <a:latin typeface="Arial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2807208" y="2928268"/>
            <a:ext cx="1417320" cy="566928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E5AA8"/>
                </a:solidFill>
                <a:latin typeface="Arial"/>
              </a:rPr>
              <a:t>Лікар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0" y="2928268"/>
            <a:ext cx="1508760" cy="566928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1E5AA8"/>
                </a:solidFill>
                <a:latin typeface="Arial"/>
              </a:rPr>
              <a:t>IoT-</a:t>
            </a:r>
            <a:r>
              <a:rPr sz="1500" b="1" dirty="0" err="1">
                <a:solidFill>
                  <a:srgbClr val="1E5AA8"/>
                </a:solidFill>
                <a:latin typeface="Arial"/>
              </a:rPr>
              <a:t>дані</a:t>
            </a:r>
            <a:endParaRPr sz="1500" b="1" dirty="0">
              <a:solidFill>
                <a:srgbClr val="1E5AA8"/>
              </a:solidFill>
              <a:latin typeface="Arial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6464808" y="2928268"/>
            <a:ext cx="1508760" cy="566928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E5AA8"/>
                </a:solidFill>
                <a:latin typeface="Arial"/>
              </a:rPr>
              <a:t>Рецепт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459736" y="3211732"/>
            <a:ext cx="347472" cy="0"/>
          </a:xfrm>
          <a:prstGeom prst="line">
            <a:avLst/>
          </a:prstGeom>
          <a:ln w="25400">
            <a:solidFill>
              <a:srgbClr val="1E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224528" y="3211732"/>
            <a:ext cx="347472" cy="0"/>
          </a:xfrm>
          <a:prstGeom prst="line">
            <a:avLst/>
          </a:prstGeom>
          <a:ln w="25400">
            <a:solidFill>
              <a:srgbClr val="1E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080760" y="3211732"/>
            <a:ext cx="384048" cy="0"/>
          </a:xfrm>
          <a:prstGeom prst="line">
            <a:avLst/>
          </a:prstGeom>
          <a:ln w="25400">
            <a:solidFill>
              <a:srgbClr val="1E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00889" y="3759762"/>
            <a:ext cx="83193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  <a:latin typeface="Arial"/>
              </a:defRPr>
            </a:pPr>
            <a:r>
              <a:rPr dirty="0" err="1"/>
              <a:t>Ключовий</a:t>
            </a:r>
            <a:r>
              <a:rPr dirty="0"/>
              <a:t> </a:t>
            </a:r>
            <a:r>
              <a:rPr dirty="0" err="1"/>
              <a:t>сценарій</a:t>
            </a:r>
            <a:r>
              <a:rPr dirty="0"/>
              <a:t>: </a:t>
            </a:r>
            <a:r>
              <a:rPr dirty="0" err="1"/>
              <a:t>запис</a:t>
            </a:r>
            <a:r>
              <a:rPr dirty="0"/>
              <a:t> </a:t>
            </a:r>
            <a:r>
              <a:rPr dirty="0" err="1"/>
              <a:t>пацієнта</a:t>
            </a:r>
            <a:r>
              <a:rPr dirty="0"/>
              <a:t> → </a:t>
            </a:r>
            <a:r>
              <a:rPr dirty="0" err="1"/>
              <a:t>проведення</a:t>
            </a:r>
            <a:r>
              <a:rPr dirty="0"/>
              <a:t> </a:t>
            </a:r>
            <a:r>
              <a:rPr dirty="0" err="1"/>
              <a:t>прийому</a:t>
            </a:r>
            <a:r>
              <a:rPr dirty="0"/>
              <a:t> → </a:t>
            </a:r>
            <a:r>
              <a:rPr dirty="0" err="1"/>
              <a:t>отримання</a:t>
            </a:r>
            <a:r>
              <a:rPr dirty="0"/>
              <a:t> IoT-</a:t>
            </a:r>
            <a:r>
              <a:rPr dirty="0" err="1"/>
              <a:t>результатів</a:t>
            </a:r>
            <a:r>
              <a:rPr dirty="0"/>
              <a:t> → </a:t>
            </a:r>
            <a:r>
              <a:rPr dirty="0" err="1"/>
              <a:t>перегляд</a:t>
            </a:r>
            <a:r>
              <a:rPr dirty="0"/>
              <a:t> </a:t>
            </a:r>
            <a:r>
              <a:rPr dirty="0" err="1"/>
              <a:t>рецепта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3100" b="0">
                <a:solidFill>
                  <a:srgbClr val="000000"/>
                </a:solidFill>
                <a:latin typeface="Georgia"/>
              </a:rPr>
              <a:t>Аналіз проблеми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699" y="871029"/>
            <a:ext cx="6317701" cy="29146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ru-RU" dirty="0" err="1">
                <a:latin typeface="Economica" panose="020B0604020202020204" charset="0"/>
              </a:rPr>
              <a:t>ручне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перенесення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результатів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обстеження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підвищує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ризик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помилок</a:t>
            </a:r>
            <a:r>
              <a:rPr lang="ru-RU" dirty="0">
                <a:latin typeface="Economica" panose="020B0604020202020204" charset="0"/>
              </a:rPr>
              <a:t>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ru-RU" dirty="0" err="1">
                <a:latin typeface="Economica" panose="020B0604020202020204" charset="0"/>
              </a:rPr>
              <a:t>запис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пацієнтів</a:t>
            </a:r>
            <a:r>
              <a:rPr lang="ru-RU" dirty="0">
                <a:latin typeface="Economica" panose="020B0604020202020204" charset="0"/>
              </a:rPr>
              <a:t> без </a:t>
            </a:r>
            <a:r>
              <a:rPr lang="ru-RU" dirty="0" err="1">
                <a:latin typeface="Economica" panose="020B0604020202020204" charset="0"/>
              </a:rPr>
              <a:t>перевірки</a:t>
            </a:r>
            <a:r>
              <a:rPr lang="ru-RU" dirty="0">
                <a:latin typeface="Economica" panose="020B0604020202020204" charset="0"/>
              </a:rPr>
              <a:t> часу </a:t>
            </a:r>
            <a:r>
              <a:rPr lang="ru-RU" dirty="0" err="1">
                <a:latin typeface="Economica" panose="020B0604020202020204" charset="0"/>
              </a:rPr>
              <a:t>може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створювати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накладення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прийомів</a:t>
            </a:r>
            <a:r>
              <a:rPr lang="ru-RU" dirty="0">
                <a:latin typeface="Economica" panose="020B0604020202020204" charset="0"/>
              </a:rPr>
              <a:t>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ru-RU" dirty="0" err="1">
                <a:latin typeface="Economica" panose="020B0604020202020204" charset="0"/>
              </a:rPr>
              <a:t>історія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обстежень</a:t>
            </a:r>
            <a:r>
              <a:rPr lang="ru-RU" dirty="0">
                <a:latin typeface="Economica" panose="020B0604020202020204" charset="0"/>
              </a:rPr>
              <a:t> і </a:t>
            </a:r>
            <a:r>
              <a:rPr lang="ru-RU" dirty="0" err="1">
                <a:latin typeface="Economica" panose="020B0604020202020204" charset="0"/>
              </a:rPr>
              <a:t>рецепти</a:t>
            </a:r>
            <a:r>
              <a:rPr lang="ru-RU" dirty="0">
                <a:latin typeface="Economica" panose="020B0604020202020204" charset="0"/>
              </a:rPr>
              <a:t> часто </a:t>
            </a:r>
            <a:r>
              <a:rPr lang="ru-RU" dirty="0" err="1">
                <a:latin typeface="Economica" panose="020B0604020202020204" charset="0"/>
              </a:rPr>
              <a:t>зберігаються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розрізнено</a:t>
            </a:r>
            <a:r>
              <a:rPr lang="ru-RU" dirty="0">
                <a:latin typeface="Economica" panose="020B0604020202020204" charset="0"/>
              </a:rPr>
              <a:t>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ru-RU" dirty="0" err="1">
                <a:latin typeface="Economica" panose="020B0604020202020204" charset="0"/>
              </a:rPr>
              <a:t>діагностичне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обладнання</a:t>
            </a:r>
            <a:r>
              <a:rPr lang="ru-RU" dirty="0">
                <a:latin typeface="Economica" panose="020B0604020202020204" charset="0"/>
              </a:rPr>
              <a:t> не </a:t>
            </a:r>
            <a:r>
              <a:rPr lang="ru-RU" dirty="0" err="1">
                <a:latin typeface="Economica" panose="020B0604020202020204" charset="0"/>
              </a:rPr>
              <a:t>завжди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пов’язане</a:t>
            </a:r>
            <a:r>
              <a:rPr lang="ru-RU" dirty="0">
                <a:latin typeface="Economica" panose="020B0604020202020204" charset="0"/>
              </a:rPr>
              <a:t> з </a:t>
            </a:r>
            <a:r>
              <a:rPr lang="ru-RU" dirty="0" err="1">
                <a:latin typeface="Economica" panose="020B0604020202020204" charset="0"/>
              </a:rPr>
              <a:t>медичною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карткою</a:t>
            </a:r>
            <a:r>
              <a:rPr lang="ru-RU" dirty="0">
                <a:latin typeface="Economica" panose="020B0604020202020204" charset="0"/>
              </a:rPr>
              <a:t>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ru-RU" dirty="0" err="1">
                <a:latin typeface="Economica" panose="020B0604020202020204" charset="0"/>
              </a:rPr>
              <a:t>лікарю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потрібен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зручний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календар</a:t>
            </a:r>
            <a:r>
              <a:rPr lang="ru-RU" dirty="0">
                <a:latin typeface="Economica" panose="020B0604020202020204" charset="0"/>
              </a:rPr>
              <a:t>, а </a:t>
            </a:r>
            <a:r>
              <a:rPr lang="ru-RU" dirty="0" err="1">
                <a:latin typeface="Economica" panose="020B0604020202020204" charset="0"/>
              </a:rPr>
              <a:t>пацієнту</a:t>
            </a:r>
            <a:r>
              <a:rPr lang="ru-RU" dirty="0">
                <a:latin typeface="Economica" panose="020B0604020202020204" charset="0"/>
              </a:rPr>
              <a:t> - </a:t>
            </a:r>
            <a:r>
              <a:rPr lang="ru-RU" dirty="0" err="1">
                <a:latin typeface="Economica" panose="020B0604020202020204" charset="0"/>
              </a:rPr>
              <a:t>простий</a:t>
            </a:r>
            <a:r>
              <a:rPr lang="ru-RU" dirty="0">
                <a:latin typeface="Economica" panose="020B0604020202020204" charset="0"/>
              </a:rPr>
              <a:t> </a:t>
            </a:r>
            <a:r>
              <a:rPr lang="ru-RU" dirty="0" err="1">
                <a:latin typeface="Economica" panose="020B0604020202020204" charset="0"/>
              </a:rPr>
              <a:t>мобільний</a:t>
            </a:r>
            <a:r>
              <a:rPr lang="ru-RU" dirty="0">
                <a:latin typeface="Economica" panose="020B0604020202020204" charset="0"/>
              </a:rPr>
              <a:t> доступ.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sp>
        <p:nvSpPr>
          <p:cNvPr id="82" name="Rounded Rectangle 81"/>
          <p:cNvSpPr/>
          <p:nvPr/>
        </p:nvSpPr>
        <p:spPr>
          <a:xfrm>
            <a:off x="7010400" y="871029"/>
            <a:ext cx="1325880" cy="566928"/>
          </a:xfrm>
          <a:prstGeom prst="roundRect">
            <a:avLst/>
          </a:prstGeom>
          <a:solidFill>
            <a:srgbClr val="F2F8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E5AA8"/>
                </a:solidFill>
                <a:latin typeface="Arial"/>
              </a:rPr>
              <a:t>Запис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010400" y="1602549"/>
            <a:ext cx="1325880" cy="566928"/>
          </a:xfrm>
          <a:prstGeom prst="roundRect">
            <a:avLst/>
          </a:prstGeom>
          <a:solidFill>
            <a:srgbClr val="F2F8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E5AA8"/>
                </a:solidFill>
                <a:latin typeface="Arial"/>
              </a:rPr>
              <a:t>Прийом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010400" y="2334069"/>
            <a:ext cx="1325880" cy="566928"/>
          </a:xfrm>
          <a:prstGeom prst="roundRect">
            <a:avLst/>
          </a:prstGeom>
          <a:solidFill>
            <a:srgbClr val="F2F8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E5AA8"/>
                </a:solidFill>
                <a:latin typeface="Arial"/>
              </a:rPr>
              <a:t>IoT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010400" y="3065589"/>
            <a:ext cx="1325880" cy="566928"/>
          </a:xfrm>
          <a:prstGeom prst="roundRect">
            <a:avLst/>
          </a:prstGeom>
          <a:solidFill>
            <a:srgbClr val="F2F8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E5AA8"/>
                </a:solidFill>
                <a:latin typeface="Arial"/>
              </a:rPr>
              <a:t>Рецепт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4400" y="395561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  <a:latin typeface="Arial"/>
              </a:defRPr>
            </a:pPr>
            <a:r>
              <a:rPr dirty="0" err="1"/>
              <a:t>Висновок</a:t>
            </a:r>
            <a:r>
              <a:rPr dirty="0"/>
              <a:t>: </a:t>
            </a:r>
            <a:r>
              <a:rPr dirty="0" err="1"/>
              <a:t>потрібна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, </a:t>
            </a:r>
            <a:r>
              <a:rPr dirty="0" err="1"/>
              <a:t>яка</a:t>
            </a:r>
            <a:r>
              <a:rPr dirty="0"/>
              <a:t> </a:t>
            </a:r>
            <a:r>
              <a:rPr dirty="0" err="1"/>
              <a:t>об’єднує</a:t>
            </a:r>
            <a:r>
              <a:rPr dirty="0"/>
              <a:t> </a:t>
            </a:r>
            <a:r>
              <a:rPr dirty="0" err="1"/>
              <a:t>організаційні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медичні</a:t>
            </a:r>
            <a:r>
              <a:rPr dirty="0"/>
              <a:t> </a:t>
            </a:r>
            <a:r>
              <a:rPr dirty="0" err="1"/>
              <a:t>дані</a:t>
            </a:r>
            <a:r>
              <a:rPr dirty="0"/>
              <a:t> в </a:t>
            </a:r>
            <a:r>
              <a:rPr dirty="0" err="1"/>
              <a:t>одному</a:t>
            </a:r>
            <a:r>
              <a:rPr dirty="0"/>
              <a:t> </a:t>
            </a:r>
            <a:r>
              <a:rPr dirty="0" err="1"/>
              <a:t>середовищі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3100" b="0" dirty="0" err="1">
                <a:solidFill>
                  <a:srgbClr val="000000"/>
                </a:solidFill>
                <a:latin typeface="Economica" panose="020B0604020202020204" charset="0"/>
              </a:rPr>
              <a:t>Постановка</a:t>
            </a:r>
            <a:r>
              <a:rPr sz="3100" b="0" dirty="0">
                <a:solidFill>
                  <a:srgbClr val="000000"/>
                </a:solidFill>
                <a:latin typeface="Economica" panose="020B0604020202020204" charset="0"/>
              </a:rPr>
              <a:t> </a:t>
            </a:r>
            <a:r>
              <a:rPr sz="3100" b="0" dirty="0" err="1">
                <a:solidFill>
                  <a:srgbClr val="000000"/>
                </a:solidFill>
                <a:latin typeface="Economica" panose="020B0604020202020204" charset="0"/>
              </a:rPr>
              <a:t>задачі</a:t>
            </a:r>
            <a:r>
              <a:rPr sz="3100" b="0" dirty="0">
                <a:solidFill>
                  <a:srgbClr val="000000"/>
                </a:solidFill>
                <a:latin typeface="Economica" panose="020B0604020202020204" charset="0"/>
              </a:rPr>
              <a:t> </a:t>
            </a:r>
            <a:r>
              <a:rPr sz="3100" b="0" dirty="0" err="1">
                <a:solidFill>
                  <a:srgbClr val="000000"/>
                </a:solidFill>
                <a:latin typeface="Economica" panose="020B0604020202020204" charset="0"/>
              </a:rPr>
              <a:t>та</a:t>
            </a:r>
            <a:r>
              <a:rPr sz="3100" b="0" dirty="0">
                <a:solidFill>
                  <a:srgbClr val="000000"/>
                </a:solidFill>
                <a:latin typeface="Economica" panose="020B0604020202020204" charset="0"/>
              </a:rPr>
              <a:t> </a:t>
            </a:r>
            <a:r>
              <a:rPr sz="3100" b="0" dirty="0" err="1">
                <a:solidFill>
                  <a:srgbClr val="000000"/>
                </a:solidFill>
                <a:latin typeface="Economica" panose="020B0604020202020204" charset="0"/>
              </a:rPr>
              <a:t>опис</a:t>
            </a:r>
            <a:r>
              <a:rPr sz="3100" b="0" dirty="0">
                <a:solidFill>
                  <a:srgbClr val="000000"/>
                </a:solidFill>
                <a:latin typeface="Economica" panose="020B0604020202020204" charset="0"/>
              </a:rPr>
              <a:t> </a:t>
            </a:r>
            <a:r>
              <a:rPr sz="3100" b="0" dirty="0" err="1">
                <a:solidFill>
                  <a:srgbClr val="000000"/>
                </a:solidFill>
                <a:latin typeface="Economica" panose="020B0604020202020204" charset="0"/>
              </a:rPr>
              <a:t>системи</a:t>
            </a:r>
            <a:endParaRPr sz="3200" dirty="0">
              <a:latin typeface="Economica" panose="020B0604020202020204" charset="0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24185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реалізувати</a:t>
            </a:r>
            <a:r>
              <a:rPr lang="ru-RU" dirty="0"/>
              <a:t> </a:t>
            </a:r>
            <a:r>
              <a:rPr lang="ru-RU" dirty="0" err="1"/>
              <a:t>мобільний</a:t>
            </a:r>
            <a:r>
              <a:rPr lang="ru-RU" dirty="0"/>
              <a:t> </a:t>
            </a:r>
            <a:r>
              <a:rPr lang="ru-RU" dirty="0" err="1"/>
              <a:t>застосунок</a:t>
            </a:r>
            <a:r>
              <a:rPr lang="ru-RU" dirty="0"/>
              <a:t> </a:t>
            </a:r>
            <a:r>
              <a:rPr lang="ru-RU" dirty="0" err="1"/>
              <a:t>пацієнта</a:t>
            </a:r>
            <a:r>
              <a:rPr lang="ru-RU" dirty="0"/>
              <a:t>;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en-US" dirty="0"/>
              <a:t>web-</a:t>
            </a:r>
            <a:r>
              <a:rPr lang="ru-RU" dirty="0" err="1"/>
              <a:t>кабінет</a:t>
            </a:r>
            <a:r>
              <a:rPr lang="ru-RU" dirty="0"/>
              <a:t> </a:t>
            </a:r>
            <a:r>
              <a:rPr lang="ru-RU" dirty="0" err="1"/>
              <a:t>лікаря</a:t>
            </a:r>
            <a:r>
              <a:rPr lang="ru-RU" dirty="0"/>
              <a:t> з календарем </a:t>
            </a:r>
            <a:r>
              <a:rPr lang="ru-RU" dirty="0" err="1"/>
              <a:t>прийомів</a:t>
            </a:r>
            <a:r>
              <a:rPr lang="ru-RU" dirty="0"/>
              <a:t>;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додати</a:t>
            </a:r>
            <a:r>
              <a:rPr lang="ru-RU" dirty="0"/>
              <a:t> </a:t>
            </a:r>
            <a:r>
              <a:rPr lang="ru-RU" dirty="0" err="1"/>
              <a:t>адміністративне</a:t>
            </a:r>
            <a:r>
              <a:rPr lang="ru-RU" dirty="0"/>
              <a:t> </a:t>
            </a:r>
            <a:r>
              <a:rPr lang="ru-RU" dirty="0" err="1"/>
              <a:t>підтвердження</a:t>
            </a:r>
            <a:r>
              <a:rPr lang="ru-RU" dirty="0"/>
              <a:t> </a:t>
            </a:r>
            <a:r>
              <a:rPr lang="ru-RU" dirty="0" err="1"/>
              <a:t>лікарів</a:t>
            </a:r>
            <a:r>
              <a:rPr lang="ru-RU" dirty="0"/>
              <a:t>;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розробити</a:t>
            </a:r>
            <a:r>
              <a:rPr lang="ru-RU" dirty="0"/>
              <a:t> </a:t>
            </a:r>
            <a:r>
              <a:rPr lang="en-US" dirty="0"/>
              <a:t>backend API </a:t>
            </a:r>
            <a:r>
              <a:rPr lang="ru-RU" dirty="0"/>
              <a:t>та структуру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;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реалізувати</a:t>
            </a:r>
            <a:r>
              <a:rPr lang="ru-RU" dirty="0"/>
              <a:t> </a:t>
            </a:r>
            <a:r>
              <a:rPr lang="en-US" dirty="0"/>
              <a:t>IoT-</a:t>
            </a:r>
            <a:r>
              <a:rPr lang="ru-RU" dirty="0" err="1"/>
              <a:t>сервіс</a:t>
            </a:r>
            <a:r>
              <a:rPr lang="ru-RU" dirty="0"/>
              <a:t> </a:t>
            </a:r>
            <a:r>
              <a:rPr lang="en-US" dirty="0" err="1"/>
              <a:t>Oftalmika</a:t>
            </a:r>
            <a:r>
              <a:rPr lang="en-US" dirty="0"/>
              <a:t> Smart Vision Scanner;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забезпечити</a:t>
            </a:r>
            <a:r>
              <a:rPr lang="ru-RU" dirty="0"/>
              <a:t> </a:t>
            </a:r>
            <a:r>
              <a:rPr lang="ru-RU" dirty="0" err="1"/>
              <a:t>збереження</a:t>
            </a:r>
            <a:r>
              <a:rPr lang="ru-RU" dirty="0"/>
              <a:t> </a:t>
            </a:r>
            <a:r>
              <a:rPr lang="ru-RU" dirty="0" err="1"/>
              <a:t>медичної</a:t>
            </a:r>
            <a:r>
              <a:rPr lang="ru-RU" dirty="0"/>
              <a:t> </a:t>
            </a:r>
            <a:r>
              <a:rPr lang="ru-RU" dirty="0" err="1"/>
              <a:t>картки</a:t>
            </a:r>
            <a:r>
              <a:rPr lang="ru-RU" dirty="0"/>
              <a:t>, </a:t>
            </a:r>
            <a:r>
              <a:rPr lang="en-US" dirty="0"/>
              <a:t>IoT-</a:t>
            </a:r>
            <a:r>
              <a:rPr lang="ru-RU" dirty="0" err="1"/>
              <a:t>даних</a:t>
            </a:r>
            <a:r>
              <a:rPr lang="ru-RU" dirty="0"/>
              <a:t> і рецепта.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  <p:sp>
        <p:nvSpPr>
          <p:cNvPr id="89" name="Rounded Rectangle 88"/>
          <p:cNvSpPr/>
          <p:nvPr/>
        </p:nvSpPr>
        <p:spPr>
          <a:xfrm>
            <a:off x="7162800" y="983672"/>
            <a:ext cx="1417320" cy="6400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E5AA8"/>
                </a:solidFill>
                <a:latin typeface="Arial"/>
              </a:rPr>
              <a:t>Mobile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162800" y="1715191"/>
            <a:ext cx="1417320" cy="6400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E5AA8"/>
                </a:solidFill>
                <a:latin typeface="Arial"/>
              </a:rPr>
              <a:t>Web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162800" y="2446712"/>
            <a:ext cx="1417320" cy="6400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E5AA8"/>
                </a:solidFill>
                <a:latin typeface="Arial"/>
              </a:rPr>
              <a:t>Backend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162800" y="3178232"/>
            <a:ext cx="1417320" cy="6400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E5AA8"/>
                </a:solidFill>
                <a:latin typeface="Arial"/>
              </a:rPr>
              <a:t>PostgreSQL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3100" b="0" dirty="0" err="1">
                <a:solidFill>
                  <a:srgbClr val="000000"/>
                </a:solidFill>
                <a:latin typeface="Economica" panose="020B0604020202020204" charset="0"/>
              </a:rPr>
              <a:t>Вибір</a:t>
            </a:r>
            <a:r>
              <a:rPr sz="3100" b="0" dirty="0">
                <a:solidFill>
                  <a:srgbClr val="000000"/>
                </a:solidFill>
                <a:latin typeface="Economica" panose="020B0604020202020204" charset="0"/>
              </a:rPr>
              <a:t> </a:t>
            </a:r>
            <a:r>
              <a:rPr sz="3100" b="0" dirty="0" err="1">
                <a:solidFill>
                  <a:srgbClr val="000000"/>
                </a:solidFill>
                <a:latin typeface="Economica" panose="020B0604020202020204" charset="0"/>
              </a:rPr>
              <a:t>технологій</a:t>
            </a:r>
            <a:r>
              <a:rPr sz="3100" b="0" dirty="0">
                <a:solidFill>
                  <a:srgbClr val="000000"/>
                </a:solidFill>
                <a:latin typeface="Economica" panose="020B0604020202020204" charset="0"/>
              </a:rPr>
              <a:t> </a:t>
            </a:r>
            <a:r>
              <a:rPr sz="3100" b="0" dirty="0" err="1">
                <a:solidFill>
                  <a:srgbClr val="000000"/>
                </a:solidFill>
                <a:latin typeface="Economica" panose="020B0604020202020204" charset="0"/>
              </a:rPr>
              <a:t>розробки</a:t>
            </a:r>
            <a:endParaRPr sz="3200" dirty="0">
              <a:latin typeface="Economica" panose="020B0604020202020204" charset="0"/>
            </a:endParaRP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1066800" y="1225225"/>
            <a:ext cx="6629400" cy="26401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graphicFrame>
        <p:nvGraphicFramePr>
          <p:cNvPr id="95" name="Table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185812"/>
              </p:ext>
            </p:extLst>
          </p:nvPr>
        </p:nvGraphicFramePr>
        <p:xfrm>
          <a:off x="982980" y="955123"/>
          <a:ext cx="71780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9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Компонент</a:t>
                      </a:r>
                    </a:p>
                  </a:txBody>
                  <a:tcPr marL="45720" marR="4572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Технології</a:t>
                      </a:r>
                      <a:endParaRPr sz="12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45720" marR="45720">
                    <a:solidFill>
                      <a:srgbClr val="1E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11827"/>
                          </a:solidFill>
                          <a:latin typeface="Arial"/>
                        </a:rPr>
                        <a:t>Java, Spring Boot, Spring Data JPA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Web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11827"/>
                          </a:solidFill>
                          <a:latin typeface="Arial"/>
                        </a:rPr>
                        <a:t>React, </a:t>
                      </a:r>
                      <a:r>
                        <a:rPr sz="1200" b="0" dirty="0" err="1">
                          <a:solidFill>
                            <a:srgbClr val="111827"/>
                          </a:solidFill>
                          <a:latin typeface="Arial"/>
                        </a:rPr>
                        <a:t>Axios</a:t>
                      </a:r>
                      <a:endParaRPr sz="1200" b="0" dirty="0">
                        <a:solidFill>
                          <a:srgbClr val="111827"/>
                        </a:solidFill>
                        <a:latin typeface="Arial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Mobile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Android Java, Retrofit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База даних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11827"/>
                          </a:solidFill>
                          <a:latin typeface="Arial"/>
                        </a:rPr>
                        <a:t>PostgreSQL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IoT-сервіс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Python, FastAPI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Розгортання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11827"/>
                          </a:solidFill>
                          <a:latin typeface="Arial"/>
                        </a:rPr>
                        <a:t>Docker Compose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6" name="TextBox 95"/>
          <p:cNvSpPr txBox="1"/>
          <p:nvPr/>
        </p:nvSpPr>
        <p:spPr>
          <a:xfrm>
            <a:off x="769620" y="3632399"/>
            <a:ext cx="7223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  <a:latin typeface="Arial"/>
              </a:defRPr>
            </a:pPr>
            <a:r>
              <a:rPr dirty="0" err="1"/>
              <a:t>Обраний</a:t>
            </a:r>
            <a:r>
              <a:rPr dirty="0"/>
              <a:t> </a:t>
            </a:r>
            <a:r>
              <a:rPr dirty="0" err="1"/>
              <a:t>стек</a:t>
            </a:r>
            <a:r>
              <a:rPr dirty="0"/>
              <a:t> </a:t>
            </a:r>
            <a:r>
              <a:rPr dirty="0" err="1"/>
              <a:t>дозволяє</a:t>
            </a:r>
            <a:r>
              <a:rPr dirty="0"/>
              <a:t> </a:t>
            </a:r>
            <a:r>
              <a:rPr dirty="0" err="1"/>
              <a:t>розділити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незалежні</a:t>
            </a:r>
            <a:r>
              <a:rPr dirty="0"/>
              <a:t> </a:t>
            </a:r>
            <a:r>
              <a:rPr dirty="0" err="1"/>
              <a:t>компоненти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організувати</a:t>
            </a:r>
            <a:r>
              <a:rPr dirty="0"/>
              <a:t> </a:t>
            </a:r>
            <a:r>
              <a:rPr dirty="0" err="1"/>
              <a:t>взаємодію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API.</a:t>
            </a:r>
          </a:p>
        </p:txBody>
      </p:sp>
      <p:pic>
        <p:nvPicPr>
          <p:cNvPr id="4" name="Рисунок 3" descr="Изображение выглядит как круг,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CF5FFFE-FDA4-ADA9-A5B8-962CEE5E9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348" y="229374"/>
            <a:ext cx="863944" cy="780540"/>
          </a:xfrm>
          <a:prstGeom prst="rect">
            <a:avLst/>
          </a:prstGeom>
        </p:spPr>
      </p:pic>
      <p:pic>
        <p:nvPicPr>
          <p:cNvPr id="6" name="Рисунок 5" descr="Изображение выглядит как графическая вставка, Шрифт, Графика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513D510-9841-2DB7-C1D2-A9FDB63BCC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8348" y="1009914"/>
            <a:ext cx="846911" cy="867771"/>
          </a:xfrm>
          <a:prstGeom prst="rect">
            <a:avLst/>
          </a:prstGeom>
        </p:spPr>
      </p:pic>
      <p:pic>
        <p:nvPicPr>
          <p:cNvPr id="8" name="Рисунок 7" descr="Изображение выглядит как логотип, символ, графическая вставка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6D93E9D-EFF9-103A-886D-94417FDC4A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5380" y="1872614"/>
            <a:ext cx="846911" cy="833770"/>
          </a:xfrm>
          <a:prstGeom prst="rect">
            <a:avLst/>
          </a:prstGeom>
        </p:spPr>
      </p:pic>
      <p:pic>
        <p:nvPicPr>
          <p:cNvPr id="10" name="Рисунок 9" descr="Изображение выглядит как Графика, графическая вставка, Шрифт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D26A2C9-74E0-3C4E-B255-3FE7526EF5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6294" y="2697354"/>
            <a:ext cx="825997" cy="8337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438912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600" b="0" dirty="0" err="1">
                <a:solidFill>
                  <a:srgbClr val="000000"/>
                </a:solidFill>
                <a:latin typeface="Economica" panose="020B0604020202020204" charset="0"/>
              </a:rPr>
              <a:t>Архітектура</a:t>
            </a:r>
            <a:r>
              <a:rPr sz="2600" b="0" dirty="0">
                <a:solidFill>
                  <a:srgbClr val="000000"/>
                </a:solidFill>
                <a:latin typeface="Economica" panose="020B0604020202020204" charset="0"/>
              </a:rPr>
              <a:t> </a:t>
            </a:r>
            <a:r>
              <a:rPr sz="2600" b="0" dirty="0" err="1">
                <a:solidFill>
                  <a:srgbClr val="000000"/>
                </a:solidFill>
                <a:latin typeface="Economica" panose="020B0604020202020204" charset="0"/>
              </a:rPr>
              <a:t>створеного</a:t>
            </a:r>
            <a:r>
              <a:rPr sz="2600" b="0" dirty="0">
                <a:solidFill>
                  <a:srgbClr val="000000"/>
                </a:solidFill>
                <a:latin typeface="Economica" panose="020B0604020202020204" charset="0"/>
              </a:rPr>
              <a:t> </a:t>
            </a:r>
            <a:r>
              <a:rPr sz="2600" b="0" dirty="0" err="1">
                <a:solidFill>
                  <a:srgbClr val="000000"/>
                </a:solidFill>
                <a:latin typeface="Economica" panose="020B0604020202020204" charset="0"/>
              </a:rPr>
              <a:t>програмного</a:t>
            </a:r>
            <a:r>
              <a:rPr sz="2600" b="0" dirty="0">
                <a:solidFill>
                  <a:srgbClr val="000000"/>
                </a:solidFill>
                <a:latin typeface="Economica" panose="020B0604020202020204" charset="0"/>
              </a:rPr>
              <a:t> </a:t>
            </a:r>
            <a:r>
              <a:rPr sz="2600" b="0" dirty="0" err="1">
                <a:solidFill>
                  <a:srgbClr val="000000"/>
                </a:solidFill>
                <a:latin typeface="Economica" panose="020B0604020202020204" charset="0"/>
              </a:rPr>
              <a:t>забезпечення</a:t>
            </a:r>
            <a:endParaRPr sz="3200" dirty="0">
              <a:latin typeface="Economica" panose="020B0604020202020204" charset="0"/>
            </a:endParaRPr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453900"/>
            <a:ext cx="221700" cy="31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sp>
        <p:nvSpPr>
          <p:cNvPr id="102" name="Rounded Rectangle 101"/>
          <p:cNvSpPr/>
          <p:nvPr/>
        </p:nvSpPr>
        <p:spPr>
          <a:xfrm>
            <a:off x="1274618" y="1239011"/>
            <a:ext cx="1508760" cy="658368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E5AA8"/>
                </a:solidFill>
                <a:latin typeface="Arial"/>
              </a:rPr>
              <a:t>Android
застосунок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274618" y="2244851"/>
            <a:ext cx="1508760" cy="658368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E5AA8"/>
                </a:solidFill>
                <a:latin typeface="Arial"/>
              </a:rPr>
              <a:t>React
web-кабінет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560618" y="1741931"/>
            <a:ext cx="1783080" cy="777240"/>
          </a:xfrm>
          <a:prstGeom prst="roundRect">
            <a:avLst/>
          </a:prstGeom>
          <a:solidFill>
            <a:srgbClr val="DF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E5AA8"/>
                </a:solidFill>
                <a:latin typeface="Arial"/>
              </a:rPr>
              <a:t>Backend API
Spring Boot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166658" y="1239011"/>
            <a:ext cx="1572768" cy="65836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28B57"/>
                </a:solidFill>
                <a:latin typeface="Arial"/>
              </a:rPr>
              <a:t>PostgreSQL
БД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166658" y="2244851"/>
            <a:ext cx="1572768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C2410C"/>
                </a:solidFill>
                <a:latin typeface="Arial"/>
              </a:rPr>
              <a:t>IoT-</a:t>
            </a:r>
            <a:r>
              <a:rPr sz="1300" b="1" dirty="0" err="1">
                <a:solidFill>
                  <a:srgbClr val="C2410C"/>
                </a:solidFill>
                <a:latin typeface="Arial"/>
              </a:rPr>
              <a:t>сервіс</a:t>
            </a:r>
            <a:r>
              <a:rPr sz="1300" b="1" dirty="0">
                <a:solidFill>
                  <a:srgbClr val="C2410C"/>
                </a:solidFill>
                <a:latin typeface="Arial"/>
              </a:rPr>
              <a:t>
</a:t>
            </a:r>
            <a:r>
              <a:rPr sz="1300" b="1" dirty="0" err="1">
                <a:solidFill>
                  <a:srgbClr val="C2410C"/>
                </a:solidFill>
                <a:latin typeface="Arial"/>
              </a:rPr>
              <a:t>FastAPI</a:t>
            </a:r>
            <a:endParaRPr sz="1300" b="1" dirty="0">
              <a:solidFill>
                <a:srgbClr val="C2410C"/>
              </a:solidFill>
              <a:latin typeface="Arial"/>
            </a:endParaRPr>
          </a:p>
        </p:txBody>
      </p:sp>
      <p:cxnSp>
        <p:nvCxnSpPr>
          <p:cNvPr id="107" name="Connector 106"/>
          <p:cNvCxnSpPr/>
          <p:nvPr/>
        </p:nvCxnSpPr>
        <p:spPr>
          <a:xfrm>
            <a:off x="2783378" y="1577339"/>
            <a:ext cx="777240" cy="438912"/>
          </a:xfrm>
          <a:prstGeom prst="line">
            <a:avLst/>
          </a:prstGeom>
          <a:ln w="25400">
            <a:solidFill>
              <a:srgbClr val="1E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2783378" y="2153411"/>
            <a:ext cx="777240" cy="411480"/>
          </a:xfrm>
          <a:prstGeom prst="line">
            <a:avLst/>
          </a:prstGeom>
          <a:ln w="25400">
            <a:solidFill>
              <a:srgbClr val="1E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343698" y="1577339"/>
            <a:ext cx="822960" cy="438912"/>
          </a:xfrm>
          <a:prstGeom prst="line">
            <a:avLst/>
          </a:prstGeom>
          <a:ln w="25400">
            <a:solidFill>
              <a:srgbClr val="1E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5343698" y="2153411"/>
            <a:ext cx="822960" cy="411480"/>
          </a:xfrm>
          <a:prstGeom prst="line">
            <a:avLst/>
          </a:prstGeom>
          <a:ln w="25400">
            <a:solidFill>
              <a:srgbClr val="1E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794558" y="3319273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  <a:latin typeface="Arial"/>
              </a:defRPr>
            </a:pPr>
            <a:r>
              <a:t>Клієнтські частини не звертаються до бази напряму. Уся бізнес-логіка проходить через backend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699" y="312400"/>
            <a:ext cx="9337991" cy="456527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3100" b="0" dirty="0" err="1">
                <a:solidFill>
                  <a:srgbClr val="000000"/>
                </a:solidFill>
                <a:latin typeface="Economica" panose="020B0604020202020204" charset="0"/>
              </a:rPr>
              <a:t>Опис</a:t>
            </a:r>
            <a:r>
              <a:rPr sz="3100" b="0" dirty="0">
                <a:solidFill>
                  <a:srgbClr val="000000"/>
                </a:solidFill>
                <a:latin typeface="Economica" panose="020B0604020202020204" charset="0"/>
              </a:rPr>
              <a:t> </a:t>
            </a:r>
            <a:r>
              <a:rPr sz="3100" b="0" dirty="0" err="1">
                <a:solidFill>
                  <a:srgbClr val="000000"/>
                </a:solidFill>
                <a:latin typeface="Economica" panose="020B0604020202020204" charset="0"/>
              </a:rPr>
              <a:t>використаного</a:t>
            </a:r>
            <a:r>
              <a:rPr sz="3100" b="0" dirty="0">
                <a:solidFill>
                  <a:srgbClr val="000000"/>
                </a:solidFill>
                <a:latin typeface="Economica" panose="020B0604020202020204" charset="0"/>
              </a:rPr>
              <a:t> </a:t>
            </a:r>
            <a:r>
              <a:rPr sz="3100" b="0" dirty="0" err="1">
                <a:solidFill>
                  <a:srgbClr val="000000"/>
                </a:solidFill>
                <a:latin typeface="Economica" panose="020B0604020202020204" charset="0"/>
              </a:rPr>
              <a:t>програмного</a:t>
            </a:r>
            <a:r>
              <a:rPr sz="3100" b="0" dirty="0">
                <a:solidFill>
                  <a:srgbClr val="000000"/>
                </a:solidFill>
                <a:latin typeface="Economica" panose="020B0604020202020204" charset="0"/>
              </a:rPr>
              <a:t> </a:t>
            </a:r>
            <a:r>
              <a:rPr sz="3100" b="0" dirty="0" err="1">
                <a:solidFill>
                  <a:srgbClr val="000000"/>
                </a:solidFill>
                <a:latin typeface="Economica" panose="020B0604020202020204" charset="0"/>
              </a:rPr>
              <a:t>забезпечення</a:t>
            </a:r>
            <a:endParaRPr sz="3200" dirty="0">
              <a:latin typeface="Economica" panose="020B0604020202020204" charset="0"/>
            </a:endParaRPr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997527"/>
            <a:ext cx="7557682" cy="2733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en-US" dirty="0"/>
              <a:t>IntelliJ IDEA - </a:t>
            </a:r>
            <a:r>
              <a:rPr lang="ru-RU" dirty="0" err="1"/>
              <a:t>розробка</a:t>
            </a:r>
            <a:r>
              <a:rPr lang="ru-RU" dirty="0"/>
              <a:t> </a:t>
            </a:r>
            <a:r>
              <a:rPr lang="en-US" dirty="0"/>
              <a:t>backend-</a:t>
            </a:r>
            <a:r>
              <a:rPr lang="ru-RU" dirty="0" err="1"/>
              <a:t>частини</a:t>
            </a:r>
            <a:r>
              <a:rPr lang="ru-RU" dirty="0"/>
              <a:t>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en-US" dirty="0"/>
              <a:t>Android Studio -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мобільного</a:t>
            </a:r>
            <a:r>
              <a:rPr lang="ru-RU" dirty="0"/>
              <a:t> </a:t>
            </a:r>
            <a:r>
              <a:rPr lang="ru-RU" dirty="0" err="1"/>
              <a:t>застосунку</a:t>
            </a:r>
            <a:r>
              <a:rPr lang="ru-RU" dirty="0"/>
              <a:t>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en-US" dirty="0"/>
              <a:t>PyCharm - </a:t>
            </a:r>
            <a:r>
              <a:rPr lang="ru-RU" dirty="0" err="1"/>
              <a:t>реалізація</a:t>
            </a:r>
            <a:r>
              <a:rPr lang="ru-RU" dirty="0"/>
              <a:t> </a:t>
            </a:r>
            <a:r>
              <a:rPr lang="en-US" dirty="0"/>
              <a:t>IoT-</a:t>
            </a:r>
            <a:r>
              <a:rPr lang="ru-RU" dirty="0" err="1"/>
              <a:t>сервісу</a:t>
            </a:r>
            <a:r>
              <a:rPr lang="ru-RU" dirty="0"/>
              <a:t>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en-US" dirty="0" err="1"/>
              <a:t>DBeaver</a:t>
            </a:r>
            <a:r>
              <a:rPr lang="en-US" dirty="0"/>
              <a:t> - </a:t>
            </a:r>
            <a:r>
              <a:rPr lang="ru-RU" dirty="0"/>
              <a:t>перегляд і </a:t>
            </a:r>
            <a:r>
              <a:rPr lang="ru-RU" dirty="0" err="1"/>
              <a:t>наповнення</a:t>
            </a:r>
            <a:r>
              <a:rPr lang="ru-RU" dirty="0"/>
              <a:t> </a:t>
            </a:r>
            <a:r>
              <a:rPr lang="en-US" dirty="0"/>
              <a:t>PostgreSQL;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en-US" dirty="0"/>
              <a:t>Docker Desktop - </a:t>
            </a:r>
            <a:r>
              <a:rPr lang="ru-RU" dirty="0"/>
              <a:t>запуск </a:t>
            </a:r>
            <a:r>
              <a:rPr lang="ru-RU" dirty="0" err="1"/>
              <a:t>контейнерів</a:t>
            </a:r>
            <a:r>
              <a:rPr lang="ru-RU" dirty="0"/>
              <a:t>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en-US" dirty="0"/>
              <a:t>Postman - </a:t>
            </a:r>
            <a:r>
              <a:rPr lang="ru-RU" dirty="0" err="1"/>
              <a:t>перевірка</a:t>
            </a:r>
            <a:r>
              <a:rPr lang="ru-RU" dirty="0"/>
              <a:t> </a:t>
            </a:r>
            <a:r>
              <a:rPr lang="en-US" dirty="0"/>
              <a:t>backend API;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sp>
        <p:nvSpPr>
          <p:cNvPr id="110" name="TextBox 109"/>
          <p:cNvSpPr txBox="1"/>
          <p:nvPr/>
        </p:nvSpPr>
        <p:spPr>
          <a:xfrm>
            <a:off x="658368" y="3730752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  <a:latin typeface="Arial"/>
              </a:defRPr>
            </a:pPr>
            <a:r>
              <a:rPr dirty="0" err="1"/>
              <a:t>Ці</a:t>
            </a:r>
            <a:r>
              <a:rPr dirty="0"/>
              <a:t> </a:t>
            </a:r>
            <a:r>
              <a:rPr dirty="0" err="1"/>
              <a:t>інструменти</a:t>
            </a:r>
            <a:r>
              <a:rPr dirty="0"/>
              <a:t> </a:t>
            </a:r>
            <a:r>
              <a:rPr dirty="0" err="1"/>
              <a:t>використовувалися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різних</a:t>
            </a:r>
            <a:r>
              <a:rPr dirty="0"/>
              <a:t> </a:t>
            </a:r>
            <a:r>
              <a:rPr dirty="0" err="1"/>
              <a:t>етапах</a:t>
            </a:r>
            <a:r>
              <a:rPr dirty="0"/>
              <a:t>: </a:t>
            </a:r>
            <a:r>
              <a:rPr dirty="0" err="1"/>
              <a:t>від</a:t>
            </a:r>
            <a:r>
              <a:rPr dirty="0"/>
              <a:t> </a:t>
            </a:r>
            <a:r>
              <a:rPr dirty="0" err="1"/>
              <a:t>проєктування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запуску</a:t>
            </a:r>
            <a:r>
              <a:rPr dirty="0"/>
              <a:t> і </a:t>
            </a:r>
            <a:r>
              <a:rPr dirty="0" err="1"/>
              <a:t>тестування</a:t>
            </a:r>
            <a:r>
              <a:rPr dirty="0"/>
              <a:t> </a:t>
            </a:r>
            <a:r>
              <a:rPr dirty="0" err="1"/>
              <a:t>системи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3100" b="0">
                <a:solidFill>
                  <a:srgbClr val="000000"/>
                </a:solidFill>
                <a:latin typeface="Georgia"/>
              </a:rPr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893135"/>
            <a:ext cx="4059676" cy="36860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єдина</a:t>
            </a:r>
            <a:r>
              <a:rPr lang="ru-RU" dirty="0"/>
              <a:t> </a:t>
            </a:r>
            <a:r>
              <a:rPr lang="ru-RU" dirty="0" err="1"/>
              <a:t>біло</a:t>
            </a:r>
            <a:r>
              <a:rPr lang="ru-RU" dirty="0"/>
              <a:t>-</a:t>
            </a:r>
            <a:r>
              <a:rPr lang="ru-RU" dirty="0" err="1"/>
              <a:t>сіро</a:t>
            </a:r>
            <a:r>
              <a:rPr lang="ru-RU" dirty="0"/>
              <a:t>-синя </a:t>
            </a:r>
            <a:r>
              <a:rPr lang="ru-RU" dirty="0" err="1"/>
              <a:t>кольорова</a:t>
            </a:r>
            <a:r>
              <a:rPr lang="ru-RU" dirty="0"/>
              <a:t> гама;</a:t>
            </a:r>
          </a:p>
          <a:p>
            <a:pPr>
              <a:spcAft>
                <a:spcPts val="7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простий</a:t>
            </a:r>
            <a:r>
              <a:rPr lang="ru-RU" dirty="0"/>
              <a:t> </a:t>
            </a:r>
            <a:r>
              <a:rPr lang="ru-RU" dirty="0" err="1"/>
              <a:t>мобільний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для </a:t>
            </a:r>
            <a:r>
              <a:rPr lang="ru-RU" dirty="0" err="1"/>
              <a:t>пацієнта</a:t>
            </a:r>
            <a:r>
              <a:rPr lang="ru-RU" dirty="0"/>
              <a:t>;</a:t>
            </a:r>
          </a:p>
          <a:p>
            <a:pPr>
              <a:spcAft>
                <a:spcPts val="7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календарний</a:t>
            </a:r>
            <a:r>
              <a:rPr lang="ru-RU" dirty="0"/>
              <a:t> </a:t>
            </a:r>
            <a:r>
              <a:rPr lang="ru-RU" dirty="0" err="1"/>
              <a:t>вигляд</a:t>
            </a:r>
            <a:r>
              <a:rPr lang="ru-RU" dirty="0"/>
              <a:t> </a:t>
            </a:r>
            <a:r>
              <a:rPr lang="ru-RU" dirty="0" err="1"/>
              <a:t>прийомів</a:t>
            </a:r>
            <a:r>
              <a:rPr lang="ru-RU" dirty="0"/>
              <a:t> для </a:t>
            </a:r>
            <a:r>
              <a:rPr lang="ru-RU" dirty="0" err="1"/>
              <a:t>лікаря</a:t>
            </a:r>
            <a:r>
              <a:rPr lang="ru-RU" dirty="0"/>
              <a:t>;</a:t>
            </a:r>
          </a:p>
          <a:p>
            <a:pPr>
              <a:spcAft>
                <a:spcPts val="7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окрема</a:t>
            </a:r>
            <a:r>
              <a:rPr lang="ru-RU" dirty="0"/>
              <a:t> </a:t>
            </a:r>
            <a:r>
              <a:rPr lang="ru-RU" dirty="0" err="1"/>
              <a:t>сторінка</a:t>
            </a:r>
            <a:r>
              <a:rPr lang="ru-RU" dirty="0"/>
              <a:t> </a:t>
            </a:r>
            <a:r>
              <a:rPr lang="ru-RU" dirty="0" err="1"/>
              <a:t>проведення</a:t>
            </a:r>
            <a:r>
              <a:rPr lang="ru-RU" dirty="0"/>
              <a:t> </a:t>
            </a:r>
            <a:r>
              <a:rPr lang="ru-RU" dirty="0" err="1"/>
              <a:t>прийому</a:t>
            </a:r>
            <a:r>
              <a:rPr lang="ru-RU" dirty="0"/>
              <a:t>;</a:t>
            </a:r>
          </a:p>
          <a:p>
            <a:pPr>
              <a:spcAft>
                <a:spcPts val="7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явний</a:t>
            </a:r>
            <a:r>
              <a:rPr lang="ru-RU" dirty="0"/>
              <a:t> статус </a:t>
            </a:r>
            <a:r>
              <a:rPr lang="ru-RU" dirty="0" err="1"/>
              <a:t>IoT</a:t>
            </a:r>
            <a:r>
              <a:rPr lang="ru-RU" dirty="0"/>
              <a:t>-пристрою: онлайн </a:t>
            </a:r>
            <a:r>
              <a:rPr lang="ru-RU" dirty="0" err="1"/>
              <a:t>або</a:t>
            </a:r>
            <a:r>
              <a:rPr lang="ru-RU" dirty="0"/>
              <a:t> офлайн;</a:t>
            </a:r>
          </a:p>
          <a:p>
            <a:pPr>
              <a:spcAft>
                <a:spcPts val="7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заміна</a:t>
            </a:r>
            <a:r>
              <a:rPr lang="ru-RU" dirty="0"/>
              <a:t> </a:t>
            </a:r>
            <a:r>
              <a:rPr lang="ru-RU" dirty="0" err="1"/>
              <a:t>порожніх</a:t>
            </a:r>
            <a:r>
              <a:rPr lang="ru-RU" dirty="0"/>
              <a:t> </a:t>
            </a:r>
            <a:r>
              <a:rPr lang="ru-RU" dirty="0" err="1"/>
              <a:t>значень</a:t>
            </a:r>
            <a:r>
              <a:rPr lang="ru-RU" dirty="0"/>
              <a:t> на «не </a:t>
            </a:r>
            <a:r>
              <a:rPr lang="ru-RU" dirty="0" err="1"/>
              <a:t>вказано</a:t>
            </a:r>
            <a:r>
              <a:rPr lang="ru-RU" dirty="0"/>
              <a:t>».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A8139B3-71E5-DD3C-3B26-E86743715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379" y="739264"/>
            <a:ext cx="3018549" cy="1461198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число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4D35B55-00FF-ED22-19BD-46353BA68F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378" y="2290580"/>
            <a:ext cx="3018549" cy="1482209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Веб-сай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442B8EC-3938-EB7F-D202-1B39FAFEC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9634" y="739261"/>
            <a:ext cx="1351334" cy="30335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3100" b="0" dirty="0" err="1">
                <a:solidFill>
                  <a:srgbClr val="000000"/>
                </a:solidFill>
                <a:latin typeface="Economica" panose="020B0604020202020204" charset="0"/>
              </a:rPr>
              <a:t>Приклад</a:t>
            </a:r>
            <a:r>
              <a:rPr sz="3100" b="0" dirty="0">
                <a:solidFill>
                  <a:srgbClr val="000000"/>
                </a:solidFill>
                <a:latin typeface="Economica" panose="020B0604020202020204" charset="0"/>
              </a:rPr>
              <a:t> </a:t>
            </a:r>
            <a:r>
              <a:rPr sz="3100" b="0" dirty="0" err="1">
                <a:solidFill>
                  <a:srgbClr val="000000"/>
                </a:solidFill>
                <a:latin typeface="Economica" panose="020B0604020202020204" charset="0"/>
              </a:rPr>
              <a:t>реалізації</a:t>
            </a:r>
            <a:endParaRPr sz="3200" dirty="0">
              <a:latin typeface="Economica" panose="020B0604020202020204" charset="0"/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758457"/>
            <a:ext cx="8750592" cy="7440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err="1"/>
              <a:t>Ключовий</a:t>
            </a:r>
            <a:r>
              <a:rPr lang="ru-RU" dirty="0"/>
              <a:t> приклад - передача </a:t>
            </a:r>
            <a:r>
              <a:rPr lang="ru-RU" dirty="0" err="1"/>
              <a:t>інформації</a:t>
            </a:r>
            <a:r>
              <a:rPr lang="ru-RU" dirty="0"/>
              <a:t> з </a:t>
            </a:r>
            <a:r>
              <a:rPr lang="ru-RU" dirty="0" err="1"/>
              <a:t>IoT</a:t>
            </a:r>
            <a:r>
              <a:rPr lang="ru-RU" dirty="0"/>
              <a:t>-пристрою перед </a:t>
            </a:r>
            <a:r>
              <a:rPr lang="ru-RU" dirty="0" err="1"/>
              <a:t>під</a:t>
            </a:r>
            <a:r>
              <a:rPr lang="ru-RU" dirty="0"/>
              <a:t> чат </a:t>
            </a:r>
            <a:r>
              <a:rPr lang="ru-RU" dirty="0" err="1"/>
              <a:t>отримання</a:t>
            </a:r>
            <a:r>
              <a:rPr lang="ru-RU" dirty="0"/>
              <a:t> </a:t>
            </a:r>
            <a:r>
              <a:rPr lang="ru-RU" dirty="0" err="1"/>
              <a:t>результатів</a:t>
            </a:r>
            <a:r>
              <a:rPr lang="ru-RU" dirty="0"/>
              <a:t> </a:t>
            </a:r>
            <a:r>
              <a:rPr lang="ru-RU" dirty="0" err="1"/>
              <a:t>обстеження</a:t>
            </a:r>
            <a:r>
              <a:rPr lang="ru-RU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4" name="Рисунок 3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1621460-4418-3E77-832C-04F74FDB6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11" y="1502461"/>
            <a:ext cx="3747846" cy="2608795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программное обеспечение, Операционная систе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307A959-328C-4369-5C63-54BE46C9F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3591" y="1644503"/>
            <a:ext cx="4408709" cy="21338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3100" b="0">
                <a:solidFill>
                  <a:srgbClr val="000000"/>
                </a:solidFill>
                <a:latin typeface="Georgia"/>
              </a:rPr>
              <a:t>Інтерфейс користувача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1120151" cy="1978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sp>
        <p:nvSpPr>
          <p:cNvPr id="134" name="TextBox 133"/>
          <p:cNvSpPr txBox="1"/>
          <p:nvPr/>
        </p:nvSpPr>
        <p:spPr>
          <a:xfrm>
            <a:off x="268925" y="3386161"/>
            <a:ext cx="5347369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111827"/>
                </a:solidFill>
                <a:latin typeface="Arial"/>
              </a:defRPr>
            </a:pPr>
            <a:r>
              <a:rPr dirty="0" err="1">
                <a:latin typeface="Economica" panose="020B0604020202020204" charset="0"/>
              </a:rPr>
              <a:t>пацієнт</a:t>
            </a:r>
            <a:r>
              <a:rPr dirty="0">
                <a:latin typeface="Economica" panose="020B0604020202020204" charset="0"/>
              </a:rPr>
              <a:t> </a:t>
            </a:r>
            <a:r>
              <a:rPr dirty="0" err="1">
                <a:latin typeface="Economica" panose="020B0604020202020204" charset="0"/>
              </a:rPr>
              <a:t>записується</a:t>
            </a:r>
            <a:r>
              <a:rPr dirty="0">
                <a:latin typeface="Economica" panose="020B0604020202020204" charset="0"/>
              </a:rPr>
              <a:t> </a:t>
            </a:r>
            <a:r>
              <a:rPr dirty="0" err="1">
                <a:latin typeface="Economica" panose="020B0604020202020204" charset="0"/>
              </a:rPr>
              <a:t>до</a:t>
            </a:r>
            <a:r>
              <a:rPr dirty="0">
                <a:latin typeface="Economica" panose="020B0604020202020204" charset="0"/>
              </a:rPr>
              <a:t> </a:t>
            </a:r>
            <a:r>
              <a:rPr dirty="0" err="1">
                <a:latin typeface="Economica" panose="020B0604020202020204" charset="0"/>
              </a:rPr>
              <a:t>лікаря</a:t>
            </a:r>
            <a:r>
              <a:rPr dirty="0">
                <a:latin typeface="Economica" panose="020B0604020202020204" charset="0"/>
              </a:rPr>
              <a:t> </a:t>
            </a:r>
            <a:r>
              <a:rPr dirty="0" err="1">
                <a:latin typeface="Economica" panose="020B0604020202020204" charset="0"/>
              </a:rPr>
              <a:t>та</a:t>
            </a:r>
            <a:r>
              <a:rPr dirty="0">
                <a:latin typeface="Economica" panose="020B0604020202020204" charset="0"/>
              </a:rPr>
              <a:t> </a:t>
            </a:r>
            <a:r>
              <a:rPr dirty="0" err="1">
                <a:latin typeface="Economica" panose="020B0604020202020204" charset="0"/>
              </a:rPr>
              <a:t>переглядає</a:t>
            </a:r>
            <a:r>
              <a:rPr dirty="0">
                <a:latin typeface="Economica" panose="020B0604020202020204" charset="0"/>
              </a:rPr>
              <a:t> </a:t>
            </a:r>
            <a:r>
              <a:rPr dirty="0" err="1">
                <a:latin typeface="Economica" panose="020B0604020202020204" charset="0"/>
              </a:rPr>
              <a:t>рецепт</a:t>
            </a:r>
            <a:r>
              <a:rPr dirty="0">
                <a:latin typeface="Economica" panose="020B0604020202020204" charset="0"/>
              </a:rPr>
              <a:t>;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111827"/>
                </a:solidFill>
                <a:latin typeface="Arial"/>
              </a:defRPr>
            </a:pPr>
            <a:r>
              <a:rPr dirty="0" err="1">
                <a:latin typeface="Economica" panose="020B0604020202020204" charset="0"/>
              </a:rPr>
              <a:t>лікар</a:t>
            </a:r>
            <a:r>
              <a:rPr dirty="0">
                <a:latin typeface="Economica" panose="020B0604020202020204" charset="0"/>
              </a:rPr>
              <a:t> </a:t>
            </a:r>
            <a:r>
              <a:rPr dirty="0" err="1">
                <a:latin typeface="Economica" panose="020B0604020202020204" charset="0"/>
              </a:rPr>
              <a:t>проводить</a:t>
            </a:r>
            <a:r>
              <a:rPr dirty="0">
                <a:latin typeface="Economica" panose="020B0604020202020204" charset="0"/>
              </a:rPr>
              <a:t> </a:t>
            </a:r>
            <a:r>
              <a:rPr dirty="0" err="1">
                <a:latin typeface="Economica" panose="020B0604020202020204" charset="0"/>
              </a:rPr>
              <a:t>прийом</a:t>
            </a:r>
            <a:r>
              <a:rPr dirty="0">
                <a:latin typeface="Economica" panose="020B0604020202020204" charset="0"/>
              </a:rPr>
              <a:t> і </a:t>
            </a:r>
            <a:r>
              <a:rPr dirty="0" err="1">
                <a:latin typeface="Economica" panose="020B0604020202020204" charset="0"/>
              </a:rPr>
              <a:t>отримує</a:t>
            </a:r>
            <a:r>
              <a:rPr dirty="0">
                <a:latin typeface="Economica" panose="020B0604020202020204" charset="0"/>
              </a:rPr>
              <a:t> IoT-</a:t>
            </a:r>
            <a:r>
              <a:rPr dirty="0" err="1">
                <a:latin typeface="Economica" panose="020B0604020202020204" charset="0"/>
              </a:rPr>
              <a:t>результати</a:t>
            </a:r>
            <a:r>
              <a:rPr dirty="0">
                <a:latin typeface="Economica" panose="020B0604020202020204" charset="0"/>
              </a:rPr>
              <a:t>;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111827"/>
                </a:solidFill>
                <a:latin typeface="Arial"/>
              </a:defRPr>
            </a:pPr>
            <a:r>
              <a:rPr dirty="0" err="1">
                <a:latin typeface="Economica" panose="020B0604020202020204" charset="0"/>
              </a:rPr>
              <a:t>адміністратор</a:t>
            </a:r>
            <a:r>
              <a:rPr dirty="0">
                <a:latin typeface="Economica" panose="020B0604020202020204" charset="0"/>
              </a:rPr>
              <a:t> </a:t>
            </a:r>
            <a:r>
              <a:rPr dirty="0" err="1">
                <a:latin typeface="Economica" panose="020B0604020202020204" charset="0"/>
              </a:rPr>
              <a:t>підтверджує</a:t>
            </a:r>
            <a:r>
              <a:rPr dirty="0">
                <a:latin typeface="Economica" panose="020B0604020202020204" charset="0"/>
              </a:rPr>
              <a:t> </a:t>
            </a:r>
            <a:r>
              <a:rPr dirty="0" err="1">
                <a:latin typeface="Economica" panose="020B0604020202020204" charset="0"/>
              </a:rPr>
              <a:t>заявки</a:t>
            </a:r>
            <a:r>
              <a:rPr dirty="0">
                <a:latin typeface="Economica" panose="020B0604020202020204" charset="0"/>
              </a:rPr>
              <a:t> </a:t>
            </a:r>
            <a:r>
              <a:rPr dirty="0" err="1">
                <a:latin typeface="Economica" panose="020B0604020202020204" charset="0"/>
              </a:rPr>
              <a:t>лікарів</a:t>
            </a:r>
            <a:r>
              <a:rPr dirty="0">
                <a:latin typeface="Economica" panose="020B0604020202020204" charset="0"/>
              </a:rPr>
              <a:t>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B39305-2A0A-17F2-3A1C-22B39A3C9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709582"/>
            <a:ext cx="1171670" cy="263171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15A77F-22F3-87A2-64FF-D240AA607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025" y="706233"/>
            <a:ext cx="3213108" cy="177914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4B11B0-1B05-0B7A-1573-DE95C7E1BF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2361" y="739528"/>
            <a:ext cx="3068348" cy="174585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598D7D-15ED-0229-EB85-574CB46CEC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6294" y="3136540"/>
            <a:ext cx="3068349" cy="1724934"/>
          </a:xfrm>
          <a:prstGeom prst="rect">
            <a:avLst/>
          </a:prstGeom>
        </p:spPr>
      </p:pic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B82F0AAE-2D37-0A14-A1B3-8377246C2726}"/>
              </a:ext>
            </a:extLst>
          </p:cNvPr>
          <p:cNvSpPr/>
          <p:nvPr/>
        </p:nvSpPr>
        <p:spPr>
          <a:xfrm>
            <a:off x="1606539" y="1458878"/>
            <a:ext cx="463266" cy="2984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C9F7E295-21AE-0876-4CA3-DC055DBA6FF4}"/>
              </a:ext>
            </a:extLst>
          </p:cNvPr>
          <p:cNvSpPr/>
          <p:nvPr/>
        </p:nvSpPr>
        <p:spPr>
          <a:xfrm>
            <a:off x="5443114" y="1488838"/>
            <a:ext cx="463266" cy="2984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8E4E6368-99F6-DBA9-A20D-7CAFE0D33590}"/>
              </a:ext>
            </a:extLst>
          </p:cNvPr>
          <p:cNvSpPr/>
          <p:nvPr/>
        </p:nvSpPr>
        <p:spPr>
          <a:xfrm rot="5400000">
            <a:off x="7244902" y="2661728"/>
            <a:ext cx="463266" cy="2984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3100" b="0">
                <a:solidFill>
                  <a:srgbClr val="000000"/>
                </a:solidFill>
                <a:latin typeface="Georgia"/>
              </a:rPr>
              <a:t>Тестування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020324" y="1225225"/>
            <a:ext cx="2341385" cy="18712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graphicFrame>
        <p:nvGraphicFramePr>
          <p:cNvPr id="130" name="Table 1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270648"/>
              </p:ext>
            </p:extLst>
          </p:nvPr>
        </p:nvGraphicFramePr>
        <p:xfrm>
          <a:off x="685800" y="944879"/>
          <a:ext cx="7772400" cy="2643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431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Сценарій</a:t>
                      </a:r>
                      <a:endParaRPr sz="12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45720" marR="4572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 marL="45720" marR="45720">
                    <a:solidFill>
                      <a:srgbClr val="1E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43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Реєстрація пацієнта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Успішно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43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Запис до лікаря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Успішно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43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Захист зайнятого часу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11827"/>
                          </a:solidFill>
                          <a:latin typeface="Arial"/>
                        </a:rPr>
                        <a:t>Успішно</a:t>
                      </a:r>
                      <a:endParaRPr sz="1200" b="0" dirty="0">
                        <a:solidFill>
                          <a:srgbClr val="111827"/>
                        </a:solidFill>
                        <a:latin typeface="Arial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43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Вхід лікаря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Успішно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43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Отримання IoT-даних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11827"/>
                          </a:solidFill>
                          <a:latin typeface="Arial"/>
                        </a:rPr>
                        <a:t>Успішно</a:t>
                      </a:r>
                      <a:endParaRPr sz="1200" b="0" dirty="0">
                        <a:solidFill>
                          <a:srgbClr val="111827"/>
                        </a:solidFill>
                        <a:latin typeface="Arial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43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Завершення прийому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Успішно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43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</a:rPr>
                        <a:t>Перегляд рецепта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11827"/>
                          </a:solidFill>
                          <a:latin typeface="Arial"/>
                        </a:rPr>
                        <a:t>Успішно</a:t>
                      </a:r>
                      <a:endParaRPr sz="1200" b="0" dirty="0">
                        <a:solidFill>
                          <a:srgbClr val="111827"/>
                        </a:solidFill>
                        <a:latin typeface="Arial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1" name="TextBox 130"/>
          <p:cNvSpPr txBox="1"/>
          <p:nvPr/>
        </p:nvSpPr>
        <p:spPr>
          <a:xfrm>
            <a:off x="685799" y="3685032"/>
            <a:ext cx="82919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  <a:latin typeface="Arial"/>
              </a:defRPr>
            </a:pPr>
            <a:r>
              <a:rPr dirty="0" err="1"/>
              <a:t>Основний</a:t>
            </a:r>
            <a:r>
              <a:rPr dirty="0"/>
              <a:t> </a:t>
            </a:r>
            <a:r>
              <a:rPr dirty="0" err="1"/>
              <a:t>сценарій</a:t>
            </a:r>
            <a:r>
              <a:rPr dirty="0"/>
              <a:t> </a:t>
            </a:r>
            <a:r>
              <a:rPr dirty="0" err="1"/>
              <a:t>перевірено</a:t>
            </a:r>
            <a:r>
              <a:rPr dirty="0"/>
              <a:t> </a:t>
            </a:r>
            <a:r>
              <a:rPr dirty="0" err="1"/>
              <a:t>повністю</a:t>
            </a:r>
            <a:r>
              <a:rPr dirty="0"/>
              <a:t>: </a:t>
            </a:r>
            <a:r>
              <a:rPr dirty="0" err="1"/>
              <a:t>від</a:t>
            </a:r>
            <a:r>
              <a:rPr dirty="0"/>
              <a:t> </a:t>
            </a:r>
            <a:r>
              <a:rPr dirty="0" err="1"/>
              <a:t>запису</a:t>
            </a:r>
            <a:r>
              <a:rPr dirty="0"/>
              <a:t> </a:t>
            </a:r>
            <a:r>
              <a:rPr dirty="0" err="1"/>
              <a:t>пацієнта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перегляду</a:t>
            </a:r>
            <a:r>
              <a:rPr dirty="0"/>
              <a:t> </a:t>
            </a:r>
            <a:r>
              <a:rPr dirty="0" err="1"/>
              <a:t>рецепта</a:t>
            </a:r>
            <a:r>
              <a:rPr dirty="0"/>
              <a:t> </a:t>
            </a:r>
            <a:r>
              <a:rPr dirty="0" err="1"/>
              <a:t>після</a:t>
            </a:r>
            <a:r>
              <a:rPr dirty="0"/>
              <a:t> </a:t>
            </a:r>
            <a:r>
              <a:rPr dirty="0" err="1"/>
              <a:t>завершення</a:t>
            </a:r>
            <a:r>
              <a:rPr dirty="0"/>
              <a:t> </a:t>
            </a:r>
            <a:r>
              <a:rPr dirty="0" err="1"/>
              <a:t>прийому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268925" y="-186276"/>
            <a:ext cx="8520600" cy="831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3100" b="0" dirty="0" err="1">
                <a:solidFill>
                  <a:srgbClr val="000000"/>
                </a:solidFill>
                <a:latin typeface="Georgia"/>
              </a:rPr>
              <a:t>Публікація</a:t>
            </a:r>
            <a:r>
              <a:rPr sz="3100" b="0" dirty="0">
                <a:solidFill>
                  <a:srgbClr val="000000"/>
                </a:solidFill>
                <a:latin typeface="Georgia"/>
              </a:rPr>
              <a:t> </a:t>
            </a:r>
            <a:r>
              <a:rPr sz="3100" b="0" dirty="0" err="1">
                <a:solidFill>
                  <a:srgbClr val="000000"/>
                </a:solidFill>
                <a:latin typeface="Georgia"/>
              </a:rPr>
              <a:t>результатів</a:t>
            </a:r>
            <a:endParaRPr sz="3200" dirty="0"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5001518" cy="21345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підготовлено</a:t>
            </a:r>
            <a:r>
              <a:rPr lang="ru-RU" dirty="0"/>
              <a:t> </a:t>
            </a:r>
            <a:r>
              <a:rPr lang="ru-RU" dirty="0" err="1"/>
              <a:t>пояснювальну</a:t>
            </a:r>
            <a:r>
              <a:rPr lang="ru-RU" dirty="0"/>
              <a:t> записку;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ru-RU" dirty="0"/>
              <a:t>створено UML-</a:t>
            </a:r>
            <a:r>
              <a:rPr lang="ru-RU" dirty="0" err="1"/>
              <a:t>діаграми</a:t>
            </a:r>
            <a:r>
              <a:rPr lang="ru-RU" dirty="0"/>
              <a:t> та схему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підготовлено</a:t>
            </a:r>
            <a:r>
              <a:rPr lang="ru-RU" dirty="0"/>
              <a:t> </a:t>
            </a:r>
            <a:r>
              <a:rPr lang="ru-RU" dirty="0" err="1"/>
              <a:t>тестові</a:t>
            </a:r>
            <a:r>
              <a:rPr lang="ru-RU" dirty="0"/>
              <a:t> </a:t>
            </a:r>
            <a:r>
              <a:rPr lang="ru-RU" dirty="0" err="1"/>
              <a:t>сценарії</a:t>
            </a:r>
            <a:r>
              <a:rPr lang="ru-RU" dirty="0"/>
              <a:t>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розроблено</a:t>
            </a:r>
            <a:r>
              <a:rPr lang="ru-RU" dirty="0"/>
              <a:t> </a:t>
            </a:r>
            <a:r>
              <a:rPr lang="ru-RU" dirty="0" err="1"/>
              <a:t>демонстраційне</a:t>
            </a:r>
            <a:r>
              <a:rPr lang="ru-RU" dirty="0"/>
              <a:t> </a:t>
            </a:r>
            <a:r>
              <a:rPr lang="ru-RU" dirty="0" err="1"/>
              <a:t>відео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вихідний</a:t>
            </a:r>
            <a:r>
              <a:rPr lang="ru-RU" dirty="0"/>
              <a:t> код </a:t>
            </a:r>
            <a:r>
              <a:rPr lang="ru-RU" dirty="0" err="1"/>
              <a:t>розміщено</a:t>
            </a:r>
            <a:r>
              <a:rPr lang="ru-RU" dirty="0"/>
              <a:t> в </a:t>
            </a:r>
            <a:r>
              <a:rPr lang="ru-RU" dirty="0" err="1"/>
              <a:t>репозиторії</a:t>
            </a:r>
            <a:r>
              <a:rPr lang="ru-RU" dirty="0"/>
              <a:t> </a:t>
            </a:r>
            <a:r>
              <a:rPr lang="ru-RU" dirty="0" err="1"/>
              <a:t>GitHub</a:t>
            </a:r>
            <a:r>
              <a:rPr lang="ru-RU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B10B47-7B7A-16D3-B2F7-7BCD981C8FD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sp>
        <p:nvSpPr>
          <p:cNvPr id="137" name="TextBox 136"/>
          <p:cNvSpPr txBox="1"/>
          <p:nvPr/>
        </p:nvSpPr>
        <p:spPr>
          <a:xfrm>
            <a:off x="4813069" y="3140792"/>
            <a:ext cx="50652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uk-UA" sz="1200" dirty="0"/>
              <a:t>Репозиторій </a:t>
            </a:r>
            <a:r>
              <a:rPr lang="uk-UA" sz="1200" dirty="0" err="1"/>
              <a:t>проєкту</a:t>
            </a:r>
            <a:r>
              <a:rPr lang="uk-UA" sz="1200" dirty="0"/>
              <a:t> на </a:t>
            </a:r>
            <a:r>
              <a:rPr lang="en-US" sz="1200" dirty="0"/>
              <a:t>GitHub - </a:t>
            </a:r>
            <a:r>
              <a:rPr lang="en-US" sz="1200" dirty="0">
                <a:hlinkClick r:id="rId4"/>
              </a:rPr>
              <a:t>https://github.com/NureKavresievMykyta/oftalmika</a:t>
            </a:r>
            <a:endParaRPr lang="en-US" sz="1200" dirty="0"/>
          </a:p>
        </p:txBody>
      </p:sp>
      <p:pic>
        <p:nvPicPr>
          <p:cNvPr id="4" name="Рисунок 3" descr="Изображение выглядит как шаблон, прямоугольный, пиксель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6986DDF-3346-D438-2F0A-E6A5140FD5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071" y="876719"/>
            <a:ext cx="2285218" cy="225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3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3100" b="0">
                <a:solidFill>
                  <a:srgbClr val="000000"/>
                </a:solidFill>
                <a:latin typeface="Georgia"/>
              </a:rPr>
              <a:t>Підсумки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6996572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розроблено</a:t>
            </a:r>
            <a:r>
              <a:rPr lang="ru-RU" dirty="0"/>
              <a:t> </a:t>
            </a:r>
            <a:r>
              <a:rPr lang="ru-RU" dirty="0" err="1"/>
              <a:t>комплексну</a:t>
            </a:r>
            <a:r>
              <a:rPr lang="ru-RU" dirty="0"/>
              <a:t> систему «</a:t>
            </a:r>
            <a:r>
              <a:rPr lang="ru-RU" dirty="0" err="1"/>
              <a:t>Офтальміка</a:t>
            </a:r>
            <a:r>
              <a:rPr lang="ru-RU" dirty="0"/>
              <a:t>»;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реалізовано</a:t>
            </a:r>
            <a:r>
              <a:rPr lang="ru-RU" dirty="0"/>
              <a:t> </a:t>
            </a:r>
            <a:r>
              <a:rPr lang="en-US" dirty="0"/>
              <a:t>mobile, web, backend, </a:t>
            </a:r>
            <a:r>
              <a:rPr lang="ru-RU" dirty="0"/>
              <a:t>базу </a:t>
            </a:r>
            <a:r>
              <a:rPr lang="ru-RU" dirty="0" err="1"/>
              <a:t>даних</a:t>
            </a:r>
            <a:r>
              <a:rPr lang="ru-RU" dirty="0"/>
              <a:t> та </a:t>
            </a:r>
            <a:r>
              <a:rPr lang="en-US" dirty="0"/>
              <a:t>IoT-</a:t>
            </a:r>
            <a:r>
              <a:rPr lang="ru-RU" dirty="0" err="1"/>
              <a:t>сервіс</a:t>
            </a:r>
            <a:r>
              <a:rPr lang="ru-RU" dirty="0"/>
              <a:t>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ru-RU" dirty="0"/>
              <a:t>показано </a:t>
            </a:r>
            <a:r>
              <a:rPr lang="ru-RU" dirty="0" err="1"/>
              <a:t>повний</a:t>
            </a:r>
            <a:r>
              <a:rPr lang="ru-RU" dirty="0"/>
              <a:t> цикл: </a:t>
            </a:r>
            <a:r>
              <a:rPr lang="ru-RU" dirty="0" err="1"/>
              <a:t>запис</a:t>
            </a:r>
            <a:r>
              <a:rPr lang="ru-RU" dirty="0"/>
              <a:t> → </a:t>
            </a:r>
            <a:r>
              <a:rPr lang="ru-RU" dirty="0" err="1"/>
              <a:t>прийом</a:t>
            </a:r>
            <a:r>
              <a:rPr lang="ru-RU" dirty="0"/>
              <a:t> → </a:t>
            </a:r>
            <a:r>
              <a:rPr lang="en-US" dirty="0"/>
              <a:t>IoT-</a:t>
            </a:r>
            <a:r>
              <a:rPr lang="ru-RU" dirty="0" err="1"/>
              <a:t>дані</a:t>
            </a:r>
            <a:r>
              <a:rPr lang="ru-RU" dirty="0"/>
              <a:t> → рецепт;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ru-RU" dirty="0"/>
              <a:t>система </a:t>
            </a:r>
            <a:r>
              <a:rPr lang="ru-RU" dirty="0" err="1"/>
              <a:t>може</a:t>
            </a:r>
            <a:r>
              <a:rPr lang="ru-RU" dirty="0"/>
              <a:t> бути основою для </a:t>
            </a:r>
            <a:r>
              <a:rPr lang="ru-RU" dirty="0" err="1"/>
              <a:t>подальшого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;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rPr lang="ru-RU" dirty="0" err="1"/>
              <a:t>надалі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додати</a:t>
            </a:r>
            <a:r>
              <a:rPr lang="ru-RU" dirty="0"/>
              <a:t> </a:t>
            </a:r>
            <a:r>
              <a:rPr lang="ru-RU" dirty="0" err="1"/>
              <a:t>захищену</a:t>
            </a:r>
            <a:r>
              <a:rPr lang="ru-RU" dirty="0"/>
              <a:t> </a:t>
            </a:r>
            <a:r>
              <a:rPr lang="ru-RU" dirty="0" err="1"/>
              <a:t>авторизацію</a:t>
            </a:r>
            <a:r>
              <a:rPr lang="ru-RU" dirty="0"/>
              <a:t>, </a:t>
            </a:r>
            <a:r>
              <a:rPr lang="ru-RU" dirty="0" err="1"/>
              <a:t>сповіщення</a:t>
            </a:r>
            <a:r>
              <a:rPr lang="ru-RU" dirty="0"/>
              <a:t> та </a:t>
            </a:r>
            <a:r>
              <a:rPr lang="ru-RU" dirty="0" err="1"/>
              <a:t>реальне</a:t>
            </a:r>
            <a:r>
              <a:rPr lang="ru-RU" dirty="0"/>
              <a:t> </a:t>
            </a:r>
            <a:r>
              <a:rPr lang="ru-RU" dirty="0" err="1"/>
              <a:t>медичне</a:t>
            </a:r>
            <a:r>
              <a:rPr lang="ru-RU" dirty="0"/>
              <a:t> </a:t>
            </a:r>
            <a:r>
              <a:rPr lang="ru-RU" dirty="0" err="1"/>
              <a:t>обладнання</a:t>
            </a:r>
            <a:r>
              <a:rPr lang="ru-RU" dirty="0"/>
              <a:t>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  <p:sp>
        <p:nvSpPr>
          <p:cNvPr id="145" name="Rounded Rectangle 144"/>
          <p:cNvSpPr/>
          <p:nvPr/>
        </p:nvSpPr>
        <p:spPr>
          <a:xfrm>
            <a:off x="7498080" y="1357745"/>
            <a:ext cx="1280160" cy="502920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E5AA8"/>
                </a:solidFill>
                <a:latin typeface="Arial"/>
              </a:rPr>
              <a:t>Запис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498080" y="1997825"/>
            <a:ext cx="1280160" cy="502920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E5AA8"/>
                </a:solidFill>
                <a:latin typeface="Arial"/>
              </a:rPr>
              <a:t>Прийом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498080" y="2637905"/>
            <a:ext cx="1280160" cy="502920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E5AA8"/>
                </a:solidFill>
                <a:latin typeface="Arial"/>
              </a:rPr>
              <a:t>IoT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498080" y="3277985"/>
            <a:ext cx="1280160" cy="502920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E5AA8"/>
                </a:solidFill>
                <a:latin typeface="Arial"/>
              </a:rPr>
              <a:t>Рецепт</a:t>
            </a:r>
          </a:p>
        </p:txBody>
      </p:sp>
      <p:cxnSp>
        <p:nvCxnSpPr>
          <p:cNvPr id="149" name="Connector 148"/>
          <p:cNvCxnSpPr>
            <a:cxnSpLocks/>
          </p:cNvCxnSpPr>
          <p:nvPr/>
        </p:nvCxnSpPr>
        <p:spPr>
          <a:xfrm>
            <a:off x="8138160" y="1860665"/>
            <a:ext cx="0" cy="137160"/>
          </a:xfrm>
          <a:prstGeom prst="line">
            <a:avLst/>
          </a:prstGeom>
          <a:ln w="25400">
            <a:solidFill>
              <a:srgbClr val="1E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>
            <a:cxnSpLocks/>
          </p:cNvCxnSpPr>
          <p:nvPr/>
        </p:nvCxnSpPr>
        <p:spPr>
          <a:xfrm>
            <a:off x="8138160" y="2500745"/>
            <a:ext cx="0" cy="137160"/>
          </a:xfrm>
          <a:prstGeom prst="line">
            <a:avLst/>
          </a:prstGeom>
          <a:ln w="25400">
            <a:solidFill>
              <a:srgbClr val="1E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>
            <a:cxnSpLocks/>
          </p:cNvCxnSpPr>
          <p:nvPr/>
        </p:nvCxnSpPr>
        <p:spPr>
          <a:xfrm>
            <a:off x="8138160" y="3140825"/>
            <a:ext cx="0" cy="137160"/>
          </a:xfrm>
          <a:prstGeom prst="line">
            <a:avLst/>
          </a:prstGeom>
          <a:ln w="25400">
            <a:solidFill>
              <a:srgbClr val="1E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(1)</Template>
  <TotalTime>1372</TotalTime>
  <Words>575</Words>
  <Application>Microsoft Office PowerPoint</Application>
  <PresentationFormat>Экран (16:9)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Economica</vt:lpstr>
      <vt:lpstr>Open Sans</vt:lpstr>
      <vt:lpstr>Arial</vt:lpstr>
      <vt:lpstr>Georgia</vt:lpstr>
      <vt:lpstr>Шаблон презентації кваліфікаційної роботи магістрів</vt:lpstr>
      <vt:lpstr>Програмна система підтримки обстеження пацієнтів
офтальмологічного центру «Офтальміка»</vt:lpstr>
      <vt:lpstr>Мета роботи</vt:lpstr>
      <vt:lpstr>Аналіз проблеми</vt:lpstr>
      <vt:lpstr>Постановка задачі та опис системи</vt:lpstr>
      <vt:lpstr>Вибір технологій розробки</vt:lpstr>
      <vt:lpstr>Архітектура створеного програмного забезпечення</vt:lpstr>
      <vt:lpstr>Опис використаного програмного забезпечення</vt:lpstr>
      <vt:lpstr>Дизайн системи</vt:lpstr>
      <vt:lpstr>Приклад реалізації</vt:lpstr>
      <vt:lpstr>Інтерфейс користувача</vt:lpstr>
      <vt:lpstr>Тестування</vt:lpstr>
      <vt:lpstr>Публікація результатів</vt:lpstr>
      <vt:lpstr>Підсумки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Mykyta Kavresiev</dc:creator>
  <cp:lastModifiedBy>Mykyta Kavresiev</cp:lastModifiedBy>
  <cp:revision>8</cp:revision>
  <dcterms:created xsi:type="dcterms:W3CDTF">2026-06-05T03:28:50Z</dcterms:created>
  <dcterms:modified xsi:type="dcterms:W3CDTF">2026-06-06T14:01:37Z</dcterms:modified>
</cp:coreProperties>
</file>